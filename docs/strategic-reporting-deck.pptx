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reporting &amp;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Nextiva vs. market (Dialpad, RingCentral EX/CX)</a:t>
            </a:r>
          </a:p>
          <a:p>
            <a:r>
              <a:t>Canned reports · Custom builder · API / warehouse / BI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Three coordinated capabilities: canned · builder · API/warehouse</a:t>
            </a:r>
          </a:p>
          <a:p>
            <a:pPr>
              <a:defRPr sz="1800"/>
            </a:pPr>
            <a:r>
              <a:t>One metrics layer: same numbers in UI, export, and API</a:t>
            </a:r>
          </a:p>
          <a:p>
            <a:pPr>
              <a:defRPr sz="1800"/>
            </a:pPr>
            <a:r>
              <a:t>MultiCaaS → unified EX + CX analytics is table 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Trustworthy metrics + progressive disclosure</a:t>
            </a:r>
          </a:p>
          <a:p>
            <a:pPr>
              <a:defRPr sz="1800"/>
            </a:pPr>
            <a:r>
              <a:t>Enterprise egress first-class (retention, formats, connectors)</a:t>
            </a:r>
          </a:p>
          <a:p>
            <a:pPr>
              <a:defRPr sz="1800"/>
            </a:pPr>
            <a:r>
              <a:t>Rich operational analytics in-app; deep modeling in customer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 (logical)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Sources → Ingest (events, AI enrich) → Metrics catalog</a:t>
            </a:r>
          </a:p>
          <a:p>
            <a:pPr>
              <a:defRPr sz="1800"/>
            </a:pPr>
            <a:r>
              <a:t>Experiences: canned · dashboards · report builder</a:t>
            </a:r>
          </a:p>
          <a:p>
            <a:pPr>
              <a:defRPr sz="1800"/>
            </a:pPr>
            <a:r>
              <a:t>Egress: REST API · bulk export · warehouse connector · Power BI</a:t>
            </a:r>
          </a:p>
          <a:p>
            <a:pPr>
              <a:defRPr sz="1800"/>
            </a:pPr>
            <a:r>
              <a:t>See strategic-reporting-complete-guide.md — Mermaid §4.1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flow: platform → customer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Curated facts &amp; metric marts inside Nextiva</a:t>
            </a:r>
          </a:p>
          <a:p>
            <a:pPr>
              <a:defRPr sz="1800"/>
            </a:pPr>
            <a:r>
              <a:t>API / bulk / connector → customer warehouse or lake</a:t>
            </a:r>
          </a:p>
          <a:p>
            <a:pPr>
              <a:defRPr sz="1800"/>
            </a:pPr>
            <a:r>
              <a:t>dbt / orchestration → executive dashboards</a:t>
            </a:r>
          </a:p>
          <a:p>
            <a:pPr>
              <a:defRPr sz="1800"/>
            </a:pPr>
            <a:r>
              <a:t>See complete guide — Mermaid §4.2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Flows —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Supervisor: wallboard + canned shift report + schedule</a:t>
            </a:r>
          </a:p>
          <a:p>
            <a:pPr>
              <a:defRPr sz="1800"/>
            </a:pPr>
            <a:r>
              <a:t>Analyst: template → metrics → filters → save/share</a:t>
            </a:r>
          </a:p>
          <a:p>
            <a:pPr>
              <a:defRPr sz="1800"/>
            </a:pPr>
            <a:r>
              <a:t>Data engineer: connector/API → warehouse → BI</a:t>
            </a:r>
          </a:p>
          <a:p>
            <a:pPr>
              <a:defRPr sz="1800"/>
            </a:pPr>
            <a:r>
              <a:t>See complete guide — Mermaid §5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RCA — 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Symptoms: RFP friction, PS-heavy custom reports, AI narrative gap</a:t>
            </a:r>
          </a:p>
          <a:p>
            <a:pPr>
              <a:defRPr sz="1800"/>
            </a:pPr>
            <a:r>
              <a:t>Roots: semantic immaturity, persona gaps, egress secondary, EX/CX silo</a:t>
            </a:r>
          </a:p>
          <a:p>
            <a:pPr>
              <a:defRPr sz="1800"/>
            </a:pPr>
            <a:r>
              <a:t>Corrective: metrics catalog, builder MVP, AI canned packs, warehouse MVP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FBA — features, benefits,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Canned: breadth + AI packs → TTV (↑ activation, adoption)</a:t>
            </a:r>
          </a:p>
          <a:p>
            <a:pPr>
              <a:defRPr sz="1800"/>
            </a:pPr>
            <a:r>
              <a:t>Builder: templates + catalog → less PS (% from template)</a:t>
            </a:r>
          </a:p>
          <a:p>
            <a:pPr>
              <a:defRPr sz="1800"/>
            </a:pPr>
            <a:r>
              <a:t>Egress: connector + retention → enterprise readiness (SLAs, audit)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B1 Capture → B2 Process → B3 Metrics</a:t>
            </a:r>
          </a:p>
          <a:p>
            <a:pPr>
              <a:defRPr sz="1800"/>
            </a:pPr>
            <a:r>
              <a:t>B4 Canned · B5 Builder → B6 Distribution</a:t>
            </a:r>
          </a:p>
          <a:p>
            <a:pPr>
              <a:defRPr sz="1800"/>
            </a:pPr>
            <a:r>
              <a:t>B7 API · B8 Warehouse → stakeholders &amp; customer 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P1 Foundation: canned depth, retention, metrics glossary</a:t>
            </a:r>
          </a:p>
          <a:p>
            <a:pPr>
              <a:defRPr sz="1800"/>
            </a:pPr>
            <a:r>
              <a:t>P2 Parity: flagship warehouse connector, AI canned, API hardening</a:t>
            </a:r>
          </a:p>
          <a:p>
            <a:pPr>
              <a:defRPr sz="1800"/>
            </a:pPr>
            <a:r>
              <a:t>P3 Differentiation: visual builder, large metric library, unified EX+CX</a:t>
            </a:r>
          </a:p>
          <a:p>
            <a:pPr>
              <a:defRPr sz="1800"/>
            </a:pPr>
            <a:r>
              <a:t>P4 Platform: streaming, more connectors, predictive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 (prioritize)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A1 Metrics catalog v0 + owners</a:t>
            </a:r>
          </a:p>
          <a:p>
            <a:pPr>
              <a:defRPr sz="1800"/>
            </a:pPr>
            <a:r>
              <a:t>A2 Win/loss: top reporting objections</a:t>
            </a:r>
          </a:p>
          <a:p>
            <a:pPr>
              <a:defRPr sz="1800"/>
            </a:pPr>
            <a:r>
              <a:t>A3 Canned gap list vs competitors</a:t>
            </a:r>
          </a:p>
          <a:p>
            <a:pPr>
              <a:defRPr sz="1800"/>
            </a:pPr>
            <a:r>
              <a:t>A4 Retention policy target 90d+</a:t>
            </a:r>
          </a:p>
          <a:p>
            <a:pPr>
              <a:defRPr sz="1800"/>
            </a:pPr>
            <a:r>
              <a:t>A5 Warehouse connector PRD (e.g. Snowflake)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RingCentral: breadth (250+ reports, 350+ metrics class)</a:t>
            </a:r>
          </a:p>
          <a:p>
            <a:pPr>
              <a:defRPr sz="1800"/>
            </a:pPr>
            <a:r>
              <a:t>Dialpad: operational AI (sentiment, floor insight)</a:t>
            </a:r>
          </a:p>
          <a:p>
            <a:pPr>
              <a:defRPr sz="1800"/>
            </a:pPr>
            <a:r>
              <a:t>Nextiva: solid core — close gaps on AI canned, builder, connectors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Assign owners — full table in strategic-reporting-complete-guide.md §10</a:t>
            </a:r>
          </a:p>
          <a:p>
            <a:pPr>
              <a:defRPr sz="1800"/>
            </a:pPr>
            <a:r>
              <a:t>Export Mermaid diagrams from guide as PNG for visuals</a:t>
            </a:r>
          </a:p>
          <a:p>
            <a:pPr>
              <a:defRPr sz="1800"/>
            </a:pPr>
            <a:r>
              <a:t>Align SE demo script with metrics glossary + warehouse 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